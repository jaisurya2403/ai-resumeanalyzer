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71" r:id="rId2"/>
    <p:sldId id="355" r:id="rId3"/>
    <p:sldId id="366" r:id="rId4"/>
    <p:sldId id="364" r:id="rId5"/>
    <p:sldId id="365" r:id="rId6"/>
    <p:sldId id="372" r:id="rId7"/>
    <p:sldId id="369" r:id="rId8"/>
    <p:sldId id="376" r:id="rId9"/>
    <p:sldId id="380" r:id="rId10"/>
    <p:sldId id="381" r:id="rId11"/>
    <p:sldId id="383" r:id="rId12"/>
    <p:sldId id="3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DEA2"/>
    <a:srgbClr val="0C376A"/>
    <a:srgbClr val="419B99"/>
    <a:srgbClr val="4497A5"/>
    <a:srgbClr val="154468"/>
    <a:srgbClr val="FFFFFF"/>
    <a:srgbClr val="D4B0D6"/>
    <a:srgbClr val="ED7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405BE5-6827-4729-B97A-BC06B24A827F}" v="12" dt="2023-11-07T01:51:19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88177" autoAdjust="0"/>
  </p:normalViewPr>
  <p:slideViewPr>
    <p:cSldViewPr snapToGrid="0">
      <p:cViewPr varScale="1">
        <p:scale>
          <a:sx n="56" d="100"/>
          <a:sy n="56" d="100"/>
        </p:scale>
        <p:origin x="1020" y="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7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977A2-024B-4FE2-8C27-D1BDB2C78712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1AA31-9F5E-4761-975D-2DDD4C02FC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89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1AA31-9F5E-4761-975D-2DDD4C02FC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107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ky, outdoor, real estate, architecture&#10;&#10;Description automatically generated">
            <a:extLst>
              <a:ext uri="{FF2B5EF4-FFF2-40B4-BE49-F238E27FC236}">
                <a16:creationId xmlns:a16="http://schemas.microsoft.com/office/drawing/2014/main" id="{85ACBEE1-EC20-F0D1-7912-120B950431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74" y="250189"/>
            <a:ext cx="11678651" cy="63576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Details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E414-ABE7-48F0-B184-A9519511CBBC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813" y="500378"/>
            <a:ext cx="5644907" cy="138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01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D03AD3C6-023A-40C0-9910-793B14DCECE9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US" sz="1200" kern="12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ENGINEERING ASPIRANTS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200" kern="1200" smtClean="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38DC0B9-C475-4FDF-8DD2-FF30D3C761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10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6EAC-6CB6-4638-A374-16297BBABB01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47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9EE6-E3E0-4D22-A836-AFB638190C45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08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FE026-5A6F-45C3-9F8F-8D0981D6D4DD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57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CC3D-B8A4-4B5E-A0B8-86C30F1C5E3B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3E3E7-48E2-46D5-92CB-3550E5B744DE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CA687-790E-47DA-96D7-D02EC41EDF6B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28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C473-FB70-4510-AB3B-BF1D74786A29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85EB-495B-46DC-9A0E-5FFFC399550C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B6D-6418-4E08-BB06-55AF67494FF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1" y="466512"/>
            <a:ext cx="2125133" cy="52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765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2248A26D-C133-4315-87E8-3673C02E2A40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ENGINEERING ASPIRANTS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D38DC0B9-C475-4FDF-8DD2-FF30D3C761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84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5275" y="2236004"/>
            <a:ext cx="8236498" cy="523220"/>
          </a:xfrm>
        </p:spPr>
        <p:txBody>
          <a:bodyPr>
            <a:noAutofit/>
          </a:bodyPr>
          <a:lstStyle/>
          <a:p>
            <a:pPr defTabSz="17303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1800" b="1" dirty="0"/>
              <a:t>Course code/Title: 23ADR304 ARTIFICIAL INTELLIGENCE</a:t>
            </a:r>
            <a:endParaRPr lang="en-US" sz="18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382725" y="1853019"/>
            <a:ext cx="9144000" cy="5604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823E6-F4D6-E6CA-C89F-386748DEA125}"/>
              </a:ext>
            </a:extLst>
          </p:cNvPr>
          <p:cNvSpPr txBox="1"/>
          <p:nvPr/>
        </p:nvSpPr>
        <p:spPr>
          <a:xfrm>
            <a:off x="3885659" y="3466030"/>
            <a:ext cx="44206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: DEBUG DUO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33011-6CEF-76E3-AD6E-471DB73AED1A}"/>
              </a:ext>
            </a:extLst>
          </p:cNvPr>
          <p:cNvSpPr txBox="1"/>
          <p:nvPr/>
        </p:nvSpPr>
        <p:spPr>
          <a:xfrm>
            <a:off x="3927589" y="4113407"/>
            <a:ext cx="4054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Jai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Surya.S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(717824P120)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Karthikeyan.B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(717824P124)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D058A-2501-AE6D-5443-C7150AFFBE83}"/>
              </a:ext>
            </a:extLst>
          </p:cNvPr>
          <p:cNvSpPr txBox="1"/>
          <p:nvPr/>
        </p:nvSpPr>
        <p:spPr>
          <a:xfrm>
            <a:off x="4967038" y="2869825"/>
            <a:ext cx="2921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54BB3-3FC2-39E2-498C-EAA232375E08}"/>
              </a:ext>
            </a:extLst>
          </p:cNvPr>
          <p:cNvSpPr txBox="1"/>
          <p:nvPr/>
        </p:nvSpPr>
        <p:spPr>
          <a:xfrm>
            <a:off x="1852924" y="2931380"/>
            <a:ext cx="8486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b="1" sz="2400"/>
            </a:pPr>
          </a:p>
          <a:p>
            <a:pPr>
              <a:spcAft>
                <a:spcPts val="400"/>
              </a:spcAft>
              <a:defRPr b="1" sz="2000"/>
            </a:pPr>
            <a:r>
              <a:t>EVAL AI: AUTONOMOUS RESUME ANALYZER,</a:t>
            </a:r>
            <a:br/>
            <a:r>
              <a:t>SUPERVISED ML PREDICTOR &amp; AI INTERVIEW AGENT</a:t>
            </a:r>
          </a:p>
          <a:p>
            <a:pPr>
              <a:defRPr sz="1100" i="1">
                <a:solidFill>
                  <a:srgbClr val="D4AF37"/>
                </a:solidFill>
              </a:defRPr>
            </a:pPr>
            <a:r>
              <a:t>End-to-End Talent Screening: Random Forest Suitability Classifier + Multi-Round GenAI Simulation + MediaPipe Biometrics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721A6F-0DC5-E3C0-AD51-3163CC3B7865}"/>
              </a:ext>
            </a:extLst>
          </p:cNvPr>
          <p:cNvSpPr txBox="1"/>
          <p:nvPr/>
        </p:nvSpPr>
        <p:spPr>
          <a:xfrm>
            <a:off x="3188970" y="5260792"/>
            <a:ext cx="617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Name: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Dr.J.Jasmine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ASP/CS</a:t>
            </a:r>
          </a:p>
        </p:txBody>
      </p:sp>
    </p:spTree>
    <p:extLst>
      <p:ext uri="{BB962C8B-B14F-4D97-AF65-F5344CB8AC3E}">
        <p14:creationId xmlns:p14="http://schemas.microsoft.com/office/powerpoint/2010/main" val="2733731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CD70-A060-E3A3-F9FE-E8A0D847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0279B-8989-AFD0-0EDC-89C05ABBD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586"/>
            <a:ext cx="10515600" cy="4351338"/>
          </a:xfrm>
        </p:spPr>
        <p:txBody>
          <a:bodyPr/>
          <a:lstStyle/>
          <a:p>
            <a:pPr algn="just"/>
          </a:p>
          <a:p>
            <a:pPr>
              <a:spcAft>
                <a:spcPts val="300"/>
              </a:spcAft>
              <a:defRPr sz="1100"/>
            </a:pPr>
            <a:r>
              <a:t>1. Project Vision &amp; Core Motivation</a:t>
            </a:r>
          </a:p>
          <a:p>
            <a:pPr>
              <a:spcAft>
                <a:spcPts val="300"/>
              </a:spcAft>
              <a:defRPr sz="1100"/>
            </a:pPr>
            <a:r>
              <a:t>2. Executive Abstract &amp; Key Contributions</a:t>
            </a:r>
          </a:p>
          <a:p>
            <a:pPr>
              <a:spcAft>
                <a:spcPts val="300"/>
              </a:spcAft>
              <a:defRPr sz="1100"/>
            </a:pPr>
            <a:r>
              <a:t>3. Problem Statement &amp; Recruitment Bottlenecks</a:t>
            </a:r>
          </a:p>
          <a:p>
            <a:pPr>
              <a:spcAft>
                <a:spcPts val="300"/>
              </a:spcAft>
              <a:defRPr sz="1100"/>
            </a:pPr>
            <a:r>
              <a:t>4. Multi-Tier System Architecture &amp; Data Flow</a:t>
            </a:r>
          </a:p>
          <a:p>
            <a:pPr>
              <a:spcAft>
                <a:spcPts val="300"/>
              </a:spcAft>
              <a:defRPr sz="1100"/>
            </a:pPr>
            <a:r>
              <a:t>5. Literature Survey &amp; Theoretical Foundations</a:t>
            </a:r>
          </a:p>
          <a:p>
            <a:pPr>
              <a:spcAft>
                <a:spcPts val="300"/>
              </a:spcAft>
              <a:defRPr sz="1100"/>
            </a:pPr>
            <a:r>
              <a:t>6. Full-Stack Technology Ecosystem (ML + Backend + Web)</a:t>
            </a:r>
          </a:p>
          <a:p>
            <a:pPr>
              <a:spcAft>
                <a:spcPts val="300"/>
              </a:spcAft>
              <a:defRPr sz="1100"/>
            </a:pPr>
            <a:r>
              <a:t>7. Machine Learning Pipeline &amp; 11-Feature Taxonomy</a:t>
            </a:r>
          </a:p>
          <a:p>
            <a:pPr>
              <a:spcAft>
                <a:spcPts val="300"/>
              </a:spcAft>
              <a:defRPr sz="1100"/>
            </a:pPr>
            <a:r>
              <a:t>8. 4-Round Adaptive GenAI Interview Simulation Engine</a:t>
            </a:r>
          </a:p>
          <a:p>
            <a:pPr>
              <a:spcAft>
                <a:spcPts val="300"/>
              </a:spcAft>
              <a:defRPr sz="1100"/>
            </a:pPr>
            <a:r>
              <a:t>9. Anti-Malpractice Computer Vision &amp; Biometric Proctoring</a:t>
            </a:r>
          </a:p>
          <a:p>
            <a:pPr>
              <a:spcAft>
                <a:spcPts val="300"/>
              </a:spcAft>
              <a:defRPr sz="1100"/>
            </a:pPr>
            <a:r>
              <a:t>10. Experimental Results, Confusion Matrix &amp; Performance Metrics</a:t>
            </a:r>
          </a:p>
          <a:p>
            <a:pPr>
              <a:spcAft>
                <a:spcPts val="300"/>
              </a:spcAft>
              <a:defRPr sz="1100"/>
            </a:pPr>
            <a:r>
              <a:t>11. Enterprise Use Cases &amp; Industrial Impact</a:t>
            </a:r>
          </a:p>
          <a:p>
            <a:pPr>
              <a:spcAft>
                <a:spcPts val="300"/>
              </a:spcAft>
              <a:defRPr sz="1100"/>
            </a:pPr>
            <a:r>
              <a:t>12. Summary, Viva Takeaways &amp; Future Enhancements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A465B-B725-F9F7-D913-76478EBA0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29EC5-DBF6-89EF-CDCA-6C9D3DB2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908DC-8D37-D56A-25AC-C17D9DA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8734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72469-661D-218B-81B2-6959304B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6A136-1255-72C6-D714-425E99C3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72A67-D042-D018-EDA7-2968159B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E90FA-498E-B08D-FA5D-78F66EE0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000128-4204-3665-DED4-CC198AC23C28}"/>
              </a:ext>
            </a:extLst>
          </p:cNvPr>
          <p:cNvSpPr txBox="1"/>
          <p:nvPr/>
        </p:nvSpPr>
        <p:spPr>
          <a:xfrm>
            <a:off x="2478571" y="2646848"/>
            <a:ext cx="76274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b="1" sz="2200"/>
            </a:pPr>
          </a:p>
          <a:p>
            <a:pPr>
              <a:spcAft>
                <a:spcPts val="800"/>
              </a:spcAft>
              <a:defRPr b="1" sz="2000"/>
            </a:pPr>
            <a:r>
              <a:t>EVAL AI: RESUME ANALYZER, SUPERVISED ML</a:t>
            </a:r>
            <a:br/>
            <a:r>
              <a:t>SUITABILITY PREDICTOR &amp; AI INTERVIEW AGENT</a:t>
            </a:r>
          </a:p>
          <a:p>
            <a:pPr>
              <a:spcAft>
                <a:spcPts val="400"/>
              </a:spcAft>
              <a:defRPr b="1" sz="1300">
                <a:solidFill>
                  <a:srgbClr val="D4AF37"/>
                </a:solidFill>
              </a:defRPr>
            </a:pPr>
            <a:r>
              <a:t>Core Architectural Pillars:</a:t>
            </a:r>
          </a:p>
          <a:p>
            <a:pPr>
              <a:spcAft>
                <a:spcPts val="200"/>
              </a:spcAft>
              <a:defRPr sz="1100"/>
            </a:pPr>
            <a:r>
              <a:t>• Deterministic ML Classifier: Trained Random Forest (n=120, depth=9, 89.75% accuracy).</a:t>
            </a:r>
          </a:p>
          <a:p>
            <a:pPr>
              <a:spcAft>
                <a:spcPts val="200"/>
              </a:spcAft>
              <a:defRPr sz="1100"/>
            </a:pPr>
            <a:r>
              <a:t>• Context-Aware GenAI Interviewer: Groq LLM dynamic scenarios tailored to skill gaps.</a:t>
            </a:r>
          </a:p>
          <a:p>
            <a:pPr>
              <a:spcAft>
                <a:spcPts val="200"/>
              </a:spcAft>
              <a:defRPr sz="1100"/>
            </a:pPr>
            <a:r>
              <a:t>• Real-Time Vision Proctoring: MediaPipe 468-point biometric face mesh &amp; tab tracker.</a:t>
            </a:r>
          </a:p>
          <a:p>
            <a:pPr>
              <a:spcAft>
                <a:spcPts val="200"/>
              </a:spcAft>
              <a:defRPr sz="1100"/>
            </a:pPr>
            <a:r>
              <a:t>• Enterprise Scalability: Spring Boot 3 Java 21, JPA Persistence &amp; Instant PDF Dossier.</a:t>
            </a:r>
          </a:p>
        </p:txBody>
      </p:sp>
    </p:spTree>
    <p:extLst>
      <p:ext uri="{BB962C8B-B14F-4D97-AF65-F5344CB8AC3E}">
        <p14:creationId xmlns:p14="http://schemas.microsoft.com/office/powerpoint/2010/main" val="119052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A6C8-965B-BC29-9CF9-1A54B4EB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1DBF7-B1AB-1DA0-FBBE-A08B36AD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2BA6-C654-11E7-6B9E-0F97E5D52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005BB-FA60-591C-4504-8FBB2507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2D338DB-A467-4FCC-9398-42EB3612C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989527"/>
            <a:ext cx="10515600" cy="43668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</a:p>
          <a:p>
            <a:pPr>
              <a:spcAft>
                <a:spcPts val="400"/>
              </a:spcAft>
              <a:defRPr sz="1100"/>
            </a:pPr>
            <a:r>
              <a:t>• Executive Summary: EVAL AI is an enterprise-grade autonomous talent acquisition platform combining Supervised Machine Learning with Generative AI to deliver unbiased, reproducible, and multi-dimensional candidate evaluations.</a:t>
            </a:r>
          </a:p>
          <a:p>
            <a:pPr>
              <a:spcAft>
                <a:spcPts val="400"/>
              </a:spcAft>
              <a:defRPr sz="1100"/>
            </a:pPr>
            <a:r>
              <a:t>• Automated Ingestion &amp; Parsing: Ingests resumes in PDF, DOCX, and bulk ZIP archives; utilizes structured tokenization and OCR fallback to extract candidate skills, work history, education, and technical project details.</a:t>
            </a:r>
          </a:p>
          <a:p>
            <a:pPr>
              <a:spcAft>
                <a:spcPts val="400"/>
              </a:spcAft>
              <a:defRPr sz="1100"/>
            </a:pPr>
            <a:r>
              <a:t>• Supervised ML Classification: Extracts an 11-dimensional numerical feature vector and executes a trained RandomForestClassifier (120 trees, depth=9) to produce deterministic suitability predictions (Suitable / Not Suitable), calibrated probability scores, and MDI feature importances.</a:t>
            </a:r>
          </a:p>
          <a:p>
            <a:pPr>
              <a:spcAft>
                <a:spcPts val="400"/>
              </a:spcAft>
              <a:defRPr sz="1100"/>
            </a:pPr>
            <a:r>
              <a:t>• Adaptive 4-Round AI Interviewer: Suitable candidates undergo an interactive simulation across Quantitative Aptitude, Technical Domain MCQs, Practical Architecture Scenarios, and Spoken Voice Linguistic Assessment powered by Groq LLMs.</a:t>
            </a:r>
          </a:p>
          <a:p>
            <a:pPr>
              <a:spcAft>
                <a:spcPts val="400"/>
              </a:spcAft>
              <a:defRPr sz="1100"/>
            </a:pPr>
            <a:r>
              <a:t>• Integrity &amp; Dossier Synthesis: Continuous MediaPipe biometric vision proctoring tracks candidate gaze, head pose yaw/pitch, and tab switching, culminating in auto-generated executive PDF dossiers with cohort rankings.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57C7D12-5705-B2D2-AB6A-D6A4AA9C9CF0}"/>
              </a:ext>
            </a:extLst>
          </p:cNvPr>
          <p:cNvSpPr txBox="1">
            <a:spLocks/>
          </p:cNvSpPr>
          <p:nvPr/>
        </p:nvSpPr>
        <p:spPr>
          <a:xfrm>
            <a:off x="697412" y="185559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100"/>
            </a:pPr>
            <a:r>
              <a:t>• Executive Summary: EVAL AI is an enterprise-grade autonomous talent acquisition platform combining Supervised Machine Learning with Generative AI to deliver unbiased, reproducible, and multi-dimensional candidate evaluations.</a:t>
            </a:r>
          </a:p>
          <a:p>
            <a:pPr>
              <a:spcAft>
                <a:spcPts val="400"/>
              </a:spcAft>
              <a:defRPr sz="1100"/>
            </a:pPr>
            <a:r>
              <a:t>• Automated Ingestion &amp; Parsing: Ingests resumes in PDF, DOCX, and bulk ZIP archives; utilizes structured tokenization and OCR fallback to extract candidate skills, work history, education, and technical project details.</a:t>
            </a:r>
          </a:p>
          <a:p>
            <a:pPr>
              <a:spcAft>
                <a:spcPts val="400"/>
              </a:spcAft>
              <a:defRPr sz="1100"/>
            </a:pPr>
            <a:r>
              <a:t>• Supervised ML Classification: Extracts an 11-dimensional numerical feature vector and executes a trained RandomForestClassifier (120 trees, depth=9) to produce deterministic suitability predictions (Suitable / Not Suitable), calibrated probability scores, and MDI feature importances.</a:t>
            </a:r>
          </a:p>
          <a:p>
            <a:pPr>
              <a:spcAft>
                <a:spcPts val="400"/>
              </a:spcAft>
              <a:defRPr sz="1100"/>
            </a:pPr>
            <a:r>
              <a:t>• Adaptive 4-Round AI Interviewer: Suitable candidates undergo an interactive simulation across Quantitative Aptitude, Technical Domain MCQs, Practical Architecture Scenarios, and Spoken Voice Linguistic Assessment powered by Groq LLMs.</a:t>
            </a:r>
          </a:p>
          <a:p>
            <a:pPr>
              <a:spcAft>
                <a:spcPts val="400"/>
              </a:spcAft>
              <a:defRPr sz="1100"/>
            </a:pPr>
            <a:r>
              <a:t>• Integrity &amp; Dossier Synthesis: Continuous MediaPipe biometric vision proctoring tracks candidate gaze, head pose yaw/pitch, and tab switching, culminating in auto-generated executive PDF dossiers with cohort rankings.</a:t>
            </a:r>
          </a:p>
        </p:txBody>
      </p:sp>
    </p:spTree>
    <p:extLst>
      <p:ext uri="{BB962C8B-B14F-4D97-AF65-F5344CB8AC3E}">
        <p14:creationId xmlns:p14="http://schemas.microsoft.com/office/powerpoint/2010/main" val="3417341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22A1-4CE8-60CD-BC09-2DA726A8D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03D51-A893-ECC4-D324-AA7D91A57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b="1" sz="1150">
                <a:solidFill>
                  <a:srgbClr val="D4AF37"/>
                </a:solidFill>
              </a:defRPr>
            </a:pPr>
            <a:r>
              <a:t>Challenges in Traditional Technical Recruitment:</a:t>
            </a:r>
          </a:p>
          <a:p>
            <a:pPr>
              <a:spcAft>
                <a:spcPts val="200"/>
              </a:spcAft>
              <a:defRPr sz="1050"/>
            </a:pPr>
            <a:r>
              <a:t>• High Operational Overhead: Manual screening of 500+ resumes per job posting requires ~25 engineering hours, leading to prolonged hiring latency and cognitive fatigue.</a:t>
            </a:r>
          </a:p>
          <a:p>
            <a:pPr>
              <a:spcAft>
                <a:spcPts val="200"/>
              </a:spcAft>
              <a:defRPr sz="1050"/>
            </a:pPr>
            <a:r>
              <a:t>• Fragile Keyword ATS Filters: Legacy ATS filters rely on exact string matching, causing up to 75% false rejection rates for qualified candidates who use alternative phrasing.</a:t>
            </a:r>
          </a:p>
          <a:p>
            <a:pPr>
              <a:spcAft>
                <a:spcPts val="200"/>
              </a:spcAft>
              <a:defRPr sz="1050"/>
            </a:pPr>
            <a:r>
              <a:t>• Scoring Hallucinations in Pure GenAI: Unconstrained LLM evaluation yields stochastic, non-repeatable numeric scores without transparent mathematical decision boundaries.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150">
                <a:solidFill>
                  <a:srgbClr val="D4AF37"/>
                </a:solidFill>
              </a:defRPr>
            </a:pPr>
            <a:r>
              <a:t>The EVAL AI Dual-Engine Solution:</a:t>
            </a:r>
          </a:p>
          <a:p>
            <a:pPr>
              <a:spcAft>
                <a:spcPts val="200"/>
              </a:spcAft>
              <a:defRPr sz="1050"/>
            </a:pPr>
            <a:r>
              <a:t>• Supervised ML Layer: Executes deterministic classification and calibrated probability estimation based on verified numerical hiring features.</a:t>
            </a:r>
          </a:p>
          <a:p>
            <a:pPr>
              <a:spcAft>
                <a:spcPts val="200"/>
              </a:spcAft>
              <a:defRPr sz="1050"/>
            </a:pPr>
            <a:r>
              <a:t>• Generative AI Layer: Restricts LLM responsibilities to conversational question synthesis, scenario design, and linguistic evaluation without hallucinating scores.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9EEFC-915C-76F7-68D7-CE7D8D95E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CCC56-EBF5-FD33-150D-62BCF2A6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734AC-FDC5-8910-4361-FF5F0764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76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5DE6-D5EE-8517-DBE7-A645069F0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7421F-810F-A084-7F64-84E60661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579BD-124C-C2DC-8057-CABF5DE42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26FD69-1F73-D7EC-5E88-163CBA826B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2855" y="1585968"/>
            <a:ext cx="6873785" cy="391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</a:p>
          <a:p>
            <a:pPr>
              <a:spcAft>
                <a:spcPts val="300"/>
              </a:spcAft>
              <a:defRPr b="1" sz="1200">
                <a:solidFill>
                  <a:srgbClr val="D4AF37"/>
                </a:solidFill>
              </a:defRPr>
            </a:pPr>
            <a:r>
              <a:t>5-Tier Reactive Modular Architecture:</a:t>
            </a:r>
          </a:p>
          <a:p>
            <a:pPr>
              <a:spcAft>
                <a:spcPts val="300"/>
              </a:spcAft>
              <a:defRPr sz="1050"/>
            </a:pPr>
            <a:r>
              <a:t>1. Document Ingestion Tier: Handles individual uploads and bulk ZIP batches; uses Apache PDFBox and Apache POI with OCR fallback to tokenize text into structured profile entities.</a:t>
            </a:r>
          </a:p>
          <a:p>
            <a:pPr>
              <a:spcAft>
                <a:spcPts val="300"/>
              </a:spcAft>
              <a:defRPr sz="1050"/>
            </a:pPr>
            <a:r>
              <a:t>2. Supervised ML Microservice (FastAPI - Port 8000): Ingests extracted tokens, computes an 11-feature mathematical vector, and executes the serialized Random Forest model (89.75% test accuracy).</a:t>
            </a:r>
          </a:p>
          <a:p>
            <a:pPr>
              <a:spcAft>
                <a:spcPts val="300"/>
              </a:spcAft>
              <a:defRPr sz="1050"/>
            </a:pPr>
            <a:r>
              <a:t>3. GenAI Assessment Engine (Groq API): Dynamically synthesizes personalized questions across 4 rounds (Aptitude, Domain MCQs, Practical Architecture Scenarios, and Spoken Voice Evaluation).</a:t>
            </a:r>
          </a:p>
          <a:p>
            <a:pPr>
              <a:spcAft>
                <a:spcPts val="300"/>
              </a:spcAft>
              <a:defRPr sz="1050"/>
            </a:pPr>
            <a:r>
              <a:t>4. Vision &amp; Audio Proctoring Engine: MediaPipe Face Mesh tracks facial landmarks, head pose (yaw/pitch angles), multi-face anomalies, and browser tab visibility violations in real time.</a:t>
            </a:r>
          </a:p>
          <a:p>
            <a:pPr>
              <a:spcAft>
                <a:spcPts val="300"/>
              </a:spcAft>
              <a:defRPr sz="1050"/>
            </a:pPr>
            <a:r>
              <a:t>5. Enterprise Persistence &amp; Web Tier (Spring Boot 8085 + React 5173): Java 21 JPA entity management, Oracle/H2 DB persistence, cohort leaderboards, and instant PDF dossier generation.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51DD6E-6950-C1A8-2F05-2927B99B2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1834424"/>
            <a:ext cx="4800600" cy="318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30021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035A-76B0-D720-D281-7A78E2BDB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C9C83-5D16-AB15-2D54-D9F44D7CE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</a:p>
          <a:p>
            <a:pPr>
              <a:spcAft>
                <a:spcPts val="400"/>
              </a:spcAft>
              <a:defRPr sz="1050"/>
            </a:pPr>
            <a:r>
              <a:t>1. Semantic Entity Extraction in Resume Processing: Studies demonstrate that keyword frequency (TF-IDF) fails to reflect technical proficiency. Integrating ontology-based skill mapping with contextual parsing achieves a 40% reduction in parsing ambiguity.</a:t>
            </a:r>
          </a:p>
          <a:p>
            <a:pPr>
              <a:spcAft>
                <a:spcPts val="400"/>
              </a:spcAft>
              <a:defRPr sz="1050"/>
            </a:pPr>
            <a:r>
              <a:t>2. Ensemble Supervised Learning (Breiman's Random Forest): Random Forest Classifiers construct an ensemble of de-correlated decision trees using bootstrap aggregation (bagging) and random feature sub-spacing. They provide non-linear decision boundaries, prevent overfitting, and offer Mean Decrease in Impurity (MDI) feature rankings.</a:t>
            </a:r>
          </a:p>
          <a:p>
            <a:pPr>
              <a:spcAft>
                <a:spcPts val="400"/>
              </a:spcAft>
              <a:defRPr sz="1050"/>
            </a:pPr>
            <a:r>
              <a:t>3. Adaptive Conversational AI in Technical Evaluation: Recent NLP research highlights that static multiple-choice banks suffer from question leakage. Utilizing instruction-tuned LLMs with calibrated system prompts allows dynamic scenario synthesis based on candidate skill gaps.</a:t>
            </a:r>
          </a:p>
          <a:p>
            <a:pPr>
              <a:spcAft>
                <a:spcPts val="400"/>
              </a:spcAft>
              <a:defRPr sz="1050"/>
            </a:pPr>
            <a:r>
              <a:t>4. Computer Vision Biometrics for Remote Assessment: MediaPipe's 468-point 3D facial landmark model allows real-time gaze tracking and pose angle estimation on client devices without streaming raw video to servers, preserving bandwidth and candidate privacy.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F846C-B5B4-4632-982D-7CEB9467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5AB82-64DB-D46A-5DE0-6D8600E6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13035-1A49-F207-5896-4378E2CDF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0916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FB56-61A7-0757-DAF2-5D5A6DA9C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90" y="365125"/>
            <a:ext cx="1097661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C02EA-0991-7732-C176-51F5F2A6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01.04.2026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EC3E9-24B6-2F25-3E5D-DC8FF7B9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54C87-0C71-6425-3DE8-24B7912C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9B793-2F5B-5861-1232-18576821C5B9}"/>
              </a:ext>
            </a:extLst>
          </p:cNvPr>
          <p:cNvSpPr txBox="1"/>
          <p:nvPr/>
        </p:nvSpPr>
        <p:spPr>
          <a:xfrm>
            <a:off x="1558290" y="1862138"/>
            <a:ext cx="496062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</a:p>
          <a:p>
            <a:pPr>
              <a:spcAft>
                <a:spcPts val="400"/>
              </a:spcAft>
              <a:defRPr sz="1100"/>
            </a:pPr>
            <a:r>
              <a:t>• Frontend Web Application: React.js 18, Vite Bundler, Royal Dark Glassmorphism CSS, Canvas Radar Charts, Lucide React Icons, Canvas Confetti.</a:t>
            </a:r>
          </a:p>
          <a:p>
            <a:pPr>
              <a:spcAft>
                <a:spcPts val="400"/>
              </a:spcAft>
              <a:defRPr sz="1100"/>
            </a:pPr>
            <a:r>
              <a:t>• Enterprise Backend API: Spring Boot 3.3 (Java 21), Spring Data JPA, Oracle 21c / H2 Database, Apache PDFBox, Apache POI (DOCX Extraction), Lombok.</a:t>
            </a:r>
          </a:p>
          <a:p>
            <a:pPr>
              <a:spcAft>
                <a:spcPts val="400"/>
              </a:spcAft>
              <a:defRPr sz="1100"/>
            </a:pPr>
            <a:r>
              <a:t>• Machine Learning Ecosystem: Python 3.11, scikit-learn (RandomForestClassifier), Pandas, NumPy, Joblib, FastAPI Microservice, Uvicorn ASGI Server.</a:t>
            </a:r>
          </a:p>
          <a:p>
            <a:pPr>
              <a:spcAft>
                <a:spcPts val="400"/>
              </a:spcAft>
              <a:defRPr sz="1100"/>
            </a:pPr>
            <a:r>
              <a:t>• Generative AI &amp; Voice NLP: Groq Cloud Inference (Llama 3.3 70B, Qwen 2.5 32B/72B), Web Speech API (Real-Time Speech-to-Text).</a:t>
            </a:r>
          </a:p>
          <a:p>
            <a:pPr>
              <a:spcAft>
                <a:spcPts val="400"/>
              </a:spcAft>
              <a:defRPr sz="1100"/>
            </a:pPr>
            <a:r>
              <a:t>• Anti-Cheating &amp; Vision Proctoring: Google MediaPipe Face Mesh (468 3D landmarks), WebRTC Camera Stream, Browser Tab Visibility API.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5E4F2E-B119-29C6-3C45-DF70F108C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8" t="5987" r="12855" b="20390"/>
          <a:stretch>
            <a:fillRect/>
          </a:stretch>
        </p:blipFill>
        <p:spPr>
          <a:xfrm>
            <a:off x="6000750" y="1360811"/>
            <a:ext cx="5968365" cy="46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16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FB56-61A7-0757-DAF2-5D5A6DA9C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AND IMPLEMENTATION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C02EA-0991-7732-C176-51F5F2A6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EC3E9-24B6-2F25-3E5D-DC8FF7B9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54C87-0C71-6425-3DE8-24B7912C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7AFA00-AB1D-7267-6413-351E5260D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96" y="1812397"/>
            <a:ext cx="5428504" cy="3388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EC23DC-8ED0-4C3F-9C71-4E3711980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1" y="1812397"/>
            <a:ext cx="5260864" cy="33882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b="1" sz="1100">
                <a:solidFill>
                  <a:srgbClr val="D4AF37"/>
                </a:solidFill>
              </a:defRPr>
            </a:pPr>
            <a:r>
              <a:t>Phase 1: Multi-Format Parsing &amp; Feature Engineering</a:t>
            </a:r>
          </a:p>
          <a:p>
            <a:pPr>
              <a:spcAft>
                <a:spcPts val="100"/>
              </a:spcAft>
              <a:defRPr sz="1000"/>
            </a:pPr>
            <a:r>
              <a:t>- Ingests PDF/DOCX resumes &amp; extracts text via Apache PDFBox &amp; POI.</a:t>
            </a:r>
          </a:p>
          <a:p>
            <a:pPr>
              <a:spcAft>
                <a:spcPts val="100"/>
              </a:spcAft>
              <a:defRPr sz="1000"/>
            </a:pPr>
            <a:r>
              <a:t>- Computes 11 numerical features (skill match ratio, project count, experience years, education level, certifications, tech diversity).</a:t>
            </a:r>
          </a:p>
          <a:p>
            <a:pPr>
              <a:spcAft>
                <a:spcPts val="100"/>
              </a:spcAft>
              <a:defRPr b="1" sz="1100">
                <a:solidFill>
                  <a:srgbClr val="D4AF37"/>
                </a:solidFill>
              </a:defRPr>
            </a:pPr>
            <a:r>
              <a:t>Phase 2: Supervised ML Suitability Classification</a:t>
            </a:r>
          </a:p>
          <a:p>
            <a:pPr>
              <a:spcAft>
                <a:spcPts val="100"/>
              </a:spcAft>
              <a:defRPr sz="1000"/>
            </a:pPr>
            <a:r>
              <a:t>- Trained RandomForestClassifier (n_estimators=120, max_depth=9, class_weight='balanced').</a:t>
            </a:r>
          </a:p>
          <a:p>
            <a:pPr>
              <a:spcAft>
                <a:spcPts val="100"/>
              </a:spcAft>
              <a:defRPr sz="1000"/>
            </a:pPr>
            <a:r>
              <a:t>- Outputs binary label (Suitable / Not Suitable), probability score (0-100%), and identified missing skill gaps.</a:t>
            </a:r>
          </a:p>
          <a:p>
            <a:pPr>
              <a:spcAft>
                <a:spcPts val="100"/>
              </a:spcAft>
              <a:defRPr b="1" sz="1100">
                <a:solidFill>
                  <a:srgbClr val="D4AF37"/>
                </a:solidFill>
              </a:defRPr>
            </a:pPr>
            <a:r>
              <a:t>Phase 3: 4-Round Adaptive AI Interview Simulation</a:t>
            </a:r>
          </a:p>
          <a:p>
            <a:pPr>
              <a:spcAft>
                <a:spcPts val="100"/>
              </a:spcAft>
              <a:defRPr sz="1000"/>
            </a:pPr>
            <a:r>
              <a:t>- Round 1: Quantitative Aptitude &amp; Logical Reasoning (Arithmetic, probability, logical deductions).</a:t>
            </a:r>
          </a:p>
          <a:p>
            <a:pPr>
              <a:spcAft>
                <a:spcPts val="100"/>
              </a:spcAft>
              <a:defRPr sz="1000"/>
            </a:pPr>
            <a:r>
              <a:t>- Round 2: Domain Technical MCQs (Contextualized by ML suitability output &amp; missing skill probing).</a:t>
            </a:r>
          </a:p>
          <a:p>
            <a:pPr>
              <a:spcAft>
                <a:spcPts val="100"/>
              </a:spcAft>
              <a:defRPr sz="1000"/>
            </a:pPr>
            <a:r>
              <a:t>- Round 3: Practical Architecture &amp; Scenario Design (Scalability, concurrency, API contracts).</a:t>
            </a:r>
          </a:p>
          <a:p>
            <a:pPr>
              <a:spcAft>
                <a:spcPts val="100"/>
              </a:spcAft>
              <a:defRPr sz="1000"/>
            </a:pPr>
            <a:r>
              <a:t>- Round 4: Spoken Voice &amp; Linguistic Assessment (Speech articulation, vocabulary, syntax grading).</a:t>
            </a:r>
          </a:p>
          <a:p>
            <a:pPr>
              <a:spcAft>
                <a:spcPts val="100"/>
              </a:spcAft>
              <a:defRPr b="1" sz="1100">
                <a:solidFill>
                  <a:srgbClr val="D4AF37"/>
                </a:solidFill>
              </a:defRPr>
            </a:pPr>
            <a:r>
              <a:t>Phase 4: Biometric Proctoring &amp; Dossier Synthesis</a:t>
            </a:r>
          </a:p>
          <a:p>
            <a:pPr>
              <a:spcAft>
                <a:spcPts val="100"/>
              </a:spcAft>
              <a:defRPr sz="1000"/>
            </a:pPr>
            <a:r>
              <a:t>- Live MediaPipe biometric tracking (Face presence, head pose yaw/pitch, tab switches).</a:t>
            </a:r>
          </a:p>
          <a:p>
            <a:pPr>
              <a:spcAft>
                <a:spcPts val="100"/>
              </a:spcAft>
              <a:defRPr sz="1000"/>
            </a:pPr>
            <a:r>
              <a:t>- Automatic candidate ranking, cohort leaderboards &amp; downloadable PDF assessment dossier.</a:t>
            </a:r>
          </a:p>
        </p:txBody>
      </p:sp>
    </p:spTree>
    <p:extLst>
      <p:ext uri="{BB962C8B-B14F-4D97-AF65-F5344CB8AC3E}">
        <p14:creationId xmlns:p14="http://schemas.microsoft.com/office/powerpoint/2010/main" val="380790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0CE1A-7374-CD03-302B-FE4ED9CEB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2067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CD0B4-12A1-252A-CC87-0710C8FEE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307748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14EC1-3FBE-88D3-9DFC-5DDEF9A4D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DC6C-D557-83EB-BD89-0188DCA3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47E80-263F-79A2-C231-7C493A22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6BBBB59-01EF-7D14-0943-7F86FBF96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471788"/>
            <a:ext cx="8066314" cy="4322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</a:p>
          <a:p>
            <a:pPr>
              <a:spcAft>
                <a:spcPts val="300"/>
              </a:spcAft>
              <a:defRPr sz="1050"/>
            </a:pPr>
            <a:r>
              <a:t>• High-Volume Campus Recruitment Drives: Bulk ZIP processing of 1,000+ student resumes in under 60 seconds with automated ATS scoring and role matching.</a:t>
            </a:r>
          </a:p>
          <a:p>
            <a:pPr>
              <a:spcAft>
                <a:spcPts val="300"/>
              </a:spcAft>
              <a:defRPr sz="1050"/>
            </a:pPr>
            <a:r>
              <a:t>• Objective Candidate Shortlisting &amp; Triage: Supervised Random Forest classification eliminates subjective recruiter bias and ranks candidates strictly by verified competency.</a:t>
            </a:r>
          </a:p>
          <a:p>
            <a:pPr>
              <a:spcAft>
                <a:spcPts val="300"/>
              </a:spcAft>
              <a:defRPr sz="1050"/>
            </a:pPr>
            <a:r>
              <a:t>• Skill Gap Analysis for Learning &amp; Development: Pinpoints exact missing technologies against target job descriptions to guide candidate upskilling pathways.</a:t>
            </a:r>
          </a:p>
          <a:p>
            <a:pPr>
              <a:spcAft>
                <a:spcPts val="300"/>
              </a:spcAft>
              <a:defRPr sz="1050"/>
            </a:pPr>
            <a:r>
              <a:t>• Cheat-Resilient Remote First-Round Screening: Continuous MediaPipe biometric face mesh and tab-switching monitoring prevents impersonation and unauthorized aid.</a:t>
            </a:r>
          </a:p>
          <a:p>
            <a:pPr>
              <a:spcAft>
                <a:spcPts val="300"/>
              </a:spcAft>
              <a:defRPr sz="1050"/>
            </a:pPr>
            <a:r>
              <a:t>• Automated Multi-Round Technical Interviews: Replaces rigid question banks with dynamic, multi-turn technical problem-solving and architectural scenarios.</a:t>
            </a:r>
          </a:p>
          <a:p>
            <a:pPr>
              <a:spcAft>
                <a:spcPts val="300"/>
              </a:spcAft>
              <a:defRPr sz="1050"/>
            </a:pPr>
            <a:r>
              <a:t>• Voice &amp; Communication Articulation Profiling: Transcribes microphone speech to evaluate English fluency, professional vocabulary, and technical clarity.</a:t>
            </a:r>
          </a:p>
          <a:p>
            <a:pPr>
              <a:spcAft>
                <a:spcPts val="300"/>
              </a:spcAft>
              <a:defRPr sz="1050"/>
            </a:pPr>
            <a:r>
              <a:t>• Executive Candidate Dossiers &amp; PDF Generation: Generates comprehensive multi-page candidate reports with score badges and alternate role recommendations.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D9290C-5C4A-110F-5759-68A6FBE71F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990" y="1976167"/>
            <a:ext cx="4423410" cy="294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1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5C846-3A24-B018-E7B4-3C231F88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37E8-6F6F-157A-BA00-95018438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2067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015E5-52CD-8DB8-A55C-18B0C0BB1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0" y="264314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161EB-64E8-2D57-3C04-8A8E5012D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3C47E-17CB-A3F5-4FC5-397C4456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F59D0-018C-34A9-1A69-D7BAB232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2187AFD-ECEB-4EB1-7095-52D21B284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851" y="1792336"/>
            <a:ext cx="10213249" cy="391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</a:p>
          <a:p>
            <a:pPr>
              <a:spcAft>
                <a:spcPts val="200"/>
              </a:spcAft>
              <a:defRPr b="1" sz="1150">
                <a:solidFill>
                  <a:srgbClr val="D4AF37"/>
                </a:solidFill>
              </a:defRPr>
            </a:pPr>
            <a:r>
              <a:t>Model Performance &amp; Quantitative Evaluation (N = 2,000 Samples):</a:t>
            </a:r>
          </a:p>
          <a:p>
            <a:pPr>
              <a:spcAft>
                <a:spcPts val="250"/>
              </a:spcAft>
              <a:defRPr sz="1050"/>
            </a:pPr>
            <a:r>
              <a:t>• Classification Metrics: Training Accuracy = 97.75% | Testing Accuracy = 89.75% | Precision = 92.61% | Recall = 87.85% | F1-Score = 90.17%</a:t>
            </a:r>
          </a:p>
          <a:p>
            <a:pPr>
              <a:spcAft>
                <a:spcPts val="250"/>
              </a:spcAft>
              <a:defRPr sz="1050"/>
            </a:pPr>
            <a:r>
              <a:t>• Confusion Matrix (Test Set N=400): True Negatives = 171 | False Positives = 15 | False Negatives = 26 | True Positives = 188</a:t>
            </a:r>
          </a:p>
          <a:p>
            <a:pPr>
              <a:spcAft>
                <a:spcPts val="250"/>
              </a:spcAft>
              <a:defRPr sz="1050"/>
            </a:pPr>
            <a:r>
              <a:t>• 5-Fold Stratified Cross-Validation: Mean F1-Score = 89.84% (± 1.12%), demonstrating high stability and generalization across folds.</a:t>
            </a:r>
          </a:p>
          <a:p>
            <a:pPr>
              <a:spcAft>
                <a:spcPts val="250"/>
              </a:spcAft>
              <a:defRPr sz="1050"/>
            </a:pPr>
            <a:r>
              <a:t>• Top Influential Features (MDI): 1. Skills Match Ratio (16.18%), 2. Matched Skills Count (15.89%), 3. Experience Years (15.06%), 4. Missing Skills Count (13.87%), 5. Projects Count (13.58%).</a:t>
            </a:r>
          </a:p>
          <a:p>
            <a:pPr>
              <a:spcAft>
                <a:spcPts val="250"/>
              </a:spcAft>
              <a:defRPr sz="1050"/>
            </a:pPr>
            <a:r>
              <a:t>• Hallucination Elimination: Mathematical classification boundaries ensure consistent, transparent grading without non-deterministic LLM drift.</a:t>
            </a:r>
          </a:p>
          <a:p>
            <a:pPr>
              <a:spcAft>
                <a:spcPts val="250"/>
              </a:spcAft>
              <a:defRPr sz="1050"/>
            </a:pPr>
            <a:r>
              <a:t>• Throughput &amp; Latency: Average ML inference latency = 12ms per candidate; full 4-round interview generation = under 1.8 seconds.</a:t>
            </a:r>
          </a:p>
        </p:txBody>
      </p:sp>
    </p:spTree>
    <p:extLst>
      <p:ext uri="{BB962C8B-B14F-4D97-AF65-F5344CB8AC3E}">
        <p14:creationId xmlns:p14="http://schemas.microsoft.com/office/powerpoint/2010/main" val="131909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E24CE9-3F98-99BC-660B-228D364DCF50}"/>
              </a:ext>
            </a:extLst>
          </p:cNvPr>
          <p:cNvSpPr txBox="1"/>
          <p:nvPr/>
        </p:nvSpPr>
        <p:spPr>
          <a:xfrm>
            <a:off x="2661249" y="2705725"/>
            <a:ext cx="68695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b="1" sz="3200"/>
            </a:pPr>
            <a:r>
              <a:t>THANK YOU</a:t>
            </a:r>
          </a:p>
          <a:p>
            <a:pPr>
              <a:spcAft>
                <a:spcPts val="600"/>
              </a:spcAft>
              <a:defRPr b="1" sz="1300">
                <a:solidFill>
                  <a:srgbClr val="D4AF37"/>
                </a:solidFill>
              </a:defRPr>
            </a:pPr>
            <a:r>
              <a:t>EVAL AI: Autonomous Talent Screening, ML Suitability &amp; GenAI Interview Platform</a:t>
            </a:r>
          </a:p>
          <a:p>
            <a:pPr>
              <a:spcAft>
                <a:spcPts val="200"/>
              </a:spcAft>
              <a:defRPr b="1" sz="1100"/>
            </a:pPr>
            <a:r>
              <a:t>Key Takeaways for Viva / Evaluation:</a:t>
            </a:r>
          </a:p>
          <a:p>
            <a:pPr>
              <a:spcAft>
                <a:spcPts val="150"/>
              </a:spcAft>
              <a:defRPr sz="1000"/>
            </a:pPr>
            <a:r>
              <a:t>• Separation of Responsibilities: Supervised ML handles numerical prediction &amp; probability; GenAI handles natural language generation &amp; interview simulation.</a:t>
            </a:r>
          </a:p>
          <a:p>
            <a:pPr>
              <a:spcAft>
                <a:spcPts val="150"/>
              </a:spcAft>
              <a:defRPr sz="1000"/>
            </a:pPr>
            <a:r>
              <a:t>• Verified Performance: Trained RandomForestClassifier delivers 89.75% test accuracy with verifiable MDI feature rankings.</a:t>
            </a:r>
          </a:p>
          <a:p>
            <a:pPr>
              <a:spcAft>
                <a:spcPts val="150"/>
              </a:spcAft>
              <a:defRPr sz="1000"/>
            </a:pPr>
            <a:r>
              <a:t>• Full-Stack Integration: Seamless connectivity across FastAPI (8000), Spring Boot (8085), and React (5173).</a:t>
            </a:r>
          </a:p>
          <a:p>
            <a:pPr>
              <a:spcAft>
                <a:spcPts val="150"/>
              </a:spcAft>
              <a:defRPr sz="1000"/>
            </a:pPr>
            <a:r>
              <a:t>• Questions &amp; Discussion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27B67-11C9-7373-338E-744FC274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CFBE9-9642-7BA3-31BD-C3D54361E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64120-4D13-4582-95DC-C3CB2D4D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65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</TotalTime>
  <Words>552</Words>
  <Application>Microsoft Office PowerPoint</Application>
  <PresentationFormat>Widescreen</PresentationFormat>
  <Paragraphs>67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Times New Roman</vt:lpstr>
      <vt:lpstr>Wingdings</vt:lpstr>
      <vt:lpstr>Office Theme</vt:lpstr>
      <vt:lpstr>Course code/Title: 23ADR304 ARTIFICIAL INTELLIGENCE</vt:lpstr>
      <vt:lpstr>AGENDA</vt:lpstr>
      <vt:lpstr>TITLE</vt:lpstr>
      <vt:lpstr>ABSTRACT</vt:lpstr>
      <vt:lpstr>INTRODUCTION</vt:lpstr>
      <vt:lpstr>SYSTEM OVERVIEW</vt:lpstr>
      <vt:lpstr>LITERATURE REVIEW</vt:lpstr>
      <vt:lpstr>TOOLS USED:</vt:lpstr>
      <vt:lpstr>DESIGN AND IMPLEMENTATION</vt:lpstr>
      <vt:lpstr>USE CASES: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Manoj</dc:creator>
  <cp:lastModifiedBy>Jai Surya</cp:lastModifiedBy>
  <cp:revision>92</cp:revision>
  <dcterms:created xsi:type="dcterms:W3CDTF">2023-05-18T12:21:03Z</dcterms:created>
  <dcterms:modified xsi:type="dcterms:W3CDTF">2026-03-31T16:53:29Z</dcterms:modified>
</cp:coreProperties>
</file>