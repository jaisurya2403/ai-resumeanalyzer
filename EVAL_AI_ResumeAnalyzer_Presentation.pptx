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71" r:id="rId2"/>
    <p:sldId id="355" r:id="rId3"/>
    <p:sldId id="366" r:id="rId4"/>
    <p:sldId id="364" r:id="rId5"/>
    <p:sldId id="365" r:id="rId6"/>
    <p:sldId id="372" r:id="rId7"/>
    <p:sldId id="369" r:id="rId8"/>
    <p:sldId id="376" r:id="rId9"/>
    <p:sldId id="380" r:id="rId10"/>
    <p:sldId id="381" r:id="rId11"/>
    <p:sldId id="383" r:id="rId12"/>
    <p:sldId id="3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DEA2"/>
    <a:srgbClr val="0C376A"/>
    <a:srgbClr val="419B99"/>
    <a:srgbClr val="4497A5"/>
    <a:srgbClr val="154468"/>
    <a:srgbClr val="FFFFFF"/>
    <a:srgbClr val="D4B0D6"/>
    <a:srgbClr val="ED79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405BE5-6827-4729-B97A-BC06B24A827F}" v="12" dt="2023-11-07T01:51:19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 autoAdjust="0"/>
    <p:restoredTop sz="88177" autoAdjust="0"/>
  </p:normalViewPr>
  <p:slideViewPr>
    <p:cSldViewPr snapToGrid="0">
      <p:cViewPr varScale="1">
        <p:scale>
          <a:sx n="56" d="100"/>
          <a:sy n="56" d="100"/>
        </p:scale>
        <p:origin x="1020" y="2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7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4977A2-024B-4FE2-8C27-D1BDB2C78712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1AA31-9F5E-4761-975D-2DDD4C02FC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189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1AA31-9F5E-4761-975D-2DDD4C02FCA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71074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sky, outdoor, real estate, architecture&#10;&#10;Description automatically generated">
            <a:extLst>
              <a:ext uri="{FF2B5EF4-FFF2-40B4-BE49-F238E27FC236}">
                <a16:creationId xmlns:a16="http://schemas.microsoft.com/office/drawing/2014/main" id="{85ACBEE1-EC20-F0D1-7912-120B950431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74" y="250189"/>
            <a:ext cx="11678651" cy="63576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Details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7E414-ABE7-48F0-B184-A9519511CBBC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ENGINEERING ASPIRANTS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813" y="500378"/>
            <a:ext cx="5644907" cy="138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014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fld id="{D03AD3C6-023A-40C0-9910-793B14DCECE9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en-US" sz="1200" kern="12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ENGINEERING ASPIRANTS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200" kern="1200" smtClean="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38DC0B9-C475-4FDF-8DD2-FF30D3C761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10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6EAC-6CB6-4638-A374-16297BBABB01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ENGINEERING ASPIRANTS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47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49EE6-E3E0-4D22-A836-AFB638190C45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ENGINEERING ASPIRANTS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08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FE026-5A6F-45C3-9F8F-8D0981D6D4DD}" type="datetime1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ENGINEERING ASPIRANTS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57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7CC3D-B8A4-4B5E-A0B8-86C30F1C5E3B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ENGINEERING ASPIRANTS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9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3E3E7-48E2-46D5-92CB-3550E5B744DE}" type="datetime1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ENGINEERING ASPIRANTS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99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CA687-790E-47DA-96D7-D02EC41EDF6B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ENGINEERING ASPIRANTS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228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3C473-FB70-4510-AB3B-BF1D74786A29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ENGINEERING ASPIRANTS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64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85EB-495B-46DC-9A0E-5FFFC399550C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ENGINEERING ASPIRANTS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1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BDB6D-6418-4E08-BB06-55AF67494FF4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ENGINEERING ASPIRANTS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1" y="466512"/>
            <a:ext cx="2125133" cy="52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765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2248A26D-C133-4315-87E8-3673C02E2A40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ENGINEERING ASPIRANTS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D38DC0B9-C475-4FDF-8DD2-FF30D3C761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849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5275" y="2236004"/>
            <a:ext cx="8236498" cy="523220"/>
          </a:xfrm>
        </p:spPr>
        <p:txBody>
          <a:bodyPr>
            <a:noAutofit/>
          </a:bodyPr>
          <a:lstStyle/>
          <a:p>
            <a:pPr defTabSz="17303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1800" b="1" dirty="0"/>
              <a:t>Course code/Title: 23ADR304 ARTIFICIAL INTELLIGENCE</a:t>
            </a:r>
            <a:endParaRPr lang="en-US" sz="18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382725" y="1853019"/>
            <a:ext cx="9144000" cy="5604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A823E6-F4D6-E6CA-C89F-386748DEA125}"/>
              </a:ext>
            </a:extLst>
          </p:cNvPr>
          <p:cNvSpPr txBox="1"/>
          <p:nvPr/>
        </p:nvSpPr>
        <p:spPr>
          <a:xfrm>
            <a:off x="3885659" y="3466030"/>
            <a:ext cx="44206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: DEBUG DUO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F33011-6CEF-76E3-AD6E-471DB73AED1A}"/>
              </a:ext>
            </a:extLst>
          </p:cNvPr>
          <p:cNvSpPr txBox="1"/>
          <p:nvPr/>
        </p:nvSpPr>
        <p:spPr>
          <a:xfrm>
            <a:off x="3927589" y="4113407"/>
            <a:ext cx="4054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Jai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Surya.S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(717824P120)</a:t>
            </a: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Karthikeyan.B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(717824P124)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AD058A-2501-AE6D-5443-C7150AFFBE83}"/>
              </a:ext>
            </a:extLst>
          </p:cNvPr>
          <p:cNvSpPr txBox="1"/>
          <p:nvPr/>
        </p:nvSpPr>
        <p:spPr>
          <a:xfrm>
            <a:off x="4967038" y="2869825"/>
            <a:ext cx="29219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54BB3-3FC2-39E2-498C-EAA232375E08}"/>
              </a:ext>
            </a:extLst>
          </p:cNvPr>
          <p:cNvSpPr txBox="1"/>
          <p:nvPr/>
        </p:nvSpPr>
        <p:spPr>
          <a:xfrm>
            <a:off x="1852924" y="2931380"/>
            <a:ext cx="8486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b="1" sz="2400"/>
            </a:pPr>
          </a:p>
          <a:p>
            <a:pPr>
              <a:defRPr b="1" sz="2200"/>
            </a:pPr>
            <a:r>
              <a:t>EVAL AI : AUTONOMOUS RESUME ANALYZER &amp;</a:t>
            </a:r>
            <a:br/>
            <a:r>
              <a:t>AI INTERVIEW AGENT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721A6F-0DC5-E3C0-AD51-3163CC3B7865}"/>
              </a:ext>
            </a:extLst>
          </p:cNvPr>
          <p:cNvSpPr txBox="1"/>
          <p:nvPr/>
        </p:nvSpPr>
        <p:spPr>
          <a:xfrm>
            <a:off x="3188970" y="5260792"/>
            <a:ext cx="617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Name: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Dr.J.Jasmine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ASP/CS</a:t>
            </a:r>
          </a:p>
        </p:txBody>
      </p:sp>
    </p:spTree>
    <p:extLst>
      <p:ext uri="{BB962C8B-B14F-4D97-AF65-F5344CB8AC3E}">
        <p14:creationId xmlns:p14="http://schemas.microsoft.com/office/powerpoint/2010/main" val="2733731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CCD70-A060-E3A3-F9FE-E8A0D8471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0279B-8989-AFD0-0EDC-89C05ABBD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2586"/>
            <a:ext cx="10515600" cy="4351338"/>
          </a:xfrm>
        </p:spPr>
        <p:txBody>
          <a:bodyPr/>
          <a:lstStyle/>
          <a:p>
            <a:pPr algn="just"/>
          </a:p>
          <a:p>
            <a:pPr>
              <a:spcAft>
                <a:spcPts val="500"/>
              </a:spcAft>
              <a:defRPr sz="1300"/>
            </a:pPr>
            <a:r>
              <a:t>1. Project Title &amp; Vision</a:t>
            </a:r>
          </a:p>
          <a:p>
            <a:pPr>
              <a:spcAft>
                <a:spcPts val="500"/>
              </a:spcAft>
              <a:defRPr sz="1300"/>
            </a:pPr>
            <a:r>
              <a:t>2. Abstract</a:t>
            </a:r>
          </a:p>
          <a:p>
            <a:pPr>
              <a:spcAft>
                <a:spcPts val="500"/>
              </a:spcAft>
              <a:defRPr sz="1300"/>
            </a:pPr>
            <a:r>
              <a:t>3. Introduction &amp; Problem Statement</a:t>
            </a:r>
          </a:p>
          <a:p>
            <a:pPr>
              <a:spcAft>
                <a:spcPts val="500"/>
              </a:spcAft>
              <a:defRPr sz="1300"/>
            </a:pPr>
            <a:r>
              <a:t>4. System Architecture &amp; Workflow</a:t>
            </a:r>
          </a:p>
          <a:p>
            <a:pPr>
              <a:spcAft>
                <a:spcPts val="500"/>
              </a:spcAft>
              <a:defRPr sz="1300"/>
            </a:pPr>
            <a:r>
              <a:t>5. Literature Review &amp; Methodology</a:t>
            </a:r>
          </a:p>
          <a:p>
            <a:pPr>
              <a:spcAft>
                <a:spcPts val="500"/>
              </a:spcAft>
              <a:defRPr sz="1300"/>
            </a:pPr>
            <a:r>
              <a:t>6. Technology Stack &amp; Tools Used</a:t>
            </a:r>
          </a:p>
          <a:p>
            <a:pPr>
              <a:spcAft>
                <a:spcPts val="500"/>
              </a:spcAft>
              <a:defRPr sz="1300"/>
            </a:pPr>
            <a:r>
              <a:t>7. Design &amp; Implementation (ML + GenAI)</a:t>
            </a:r>
          </a:p>
          <a:p>
            <a:pPr>
              <a:spcAft>
                <a:spcPts val="500"/>
              </a:spcAft>
              <a:defRPr sz="1300"/>
            </a:pPr>
            <a:r>
              <a:t>8. Key Features &amp; Industry Use Cases</a:t>
            </a:r>
          </a:p>
          <a:p>
            <a:pPr>
              <a:spcAft>
                <a:spcPts val="500"/>
              </a:spcAft>
              <a:defRPr sz="1300"/>
            </a:pPr>
            <a:r>
              <a:t>9. Model Evaluation &amp; Performance Metrics</a:t>
            </a:r>
          </a:p>
          <a:p>
            <a:pPr>
              <a:spcAft>
                <a:spcPts val="500"/>
              </a:spcAft>
              <a:defRPr sz="1300"/>
            </a:pPr>
            <a:r>
              <a:t>10. Conclusion &amp; Future Scope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3A465B-B725-F9F7-D913-76478EBA0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29EC5-DBF6-89EF-CDCA-6C9D3DB28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908DC-8D37-D56A-25AC-C17D9DAC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87344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72469-661D-218B-81B2-6959304BF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6A136-1255-72C6-D714-425E99C3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72A67-D042-D018-EDA7-2968159B4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E90FA-498E-B08D-FA5D-78F66EE0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000128-4204-3665-DED4-CC198AC23C28}"/>
              </a:ext>
            </a:extLst>
          </p:cNvPr>
          <p:cNvSpPr txBox="1"/>
          <p:nvPr/>
        </p:nvSpPr>
        <p:spPr>
          <a:xfrm>
            <a:off x="2478571" y="2646848"/>
            <a:ext cx="762740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b="1" sz="2200"/>
            </a:pPr>
          </a:p>
          <a:p>
            <a:pPr>
              <a:defRPr b="1" sz="2200"/>
            </a:pPr>
            <a:r>
              <a:t>EVAL AI: RESUME ANALYZER, SUPERVISED ML</a:t>
            </a:r>
            <a:br/>
            <a:r>
              <a:t>SUITABILITY PREDICTOR &amp; AI INTERVIEW AGENT</a:t>
            </a:r>
          </a:p>
        </p:txBody>
      </p:sp>
    </p:spTree>
    <p:extLst>
      <p:ext uri="{BB962C8B-B14F-4D97-AF65-F5344CB8AC3E}">
        <p14:creationId xmlns:p14="http://schemas.microsoft.com/office/powerpoint/2010/main" val="119052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AA6C8-965B-BC29-9CF9-1A54B4EB2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1DBF7-B1AB-1DA0-FBBE-A08B36AD6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02BA6-C654-11E7-6B9E-0F97E5D52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005BB-FA60-591C-4504-8FBB2507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2D338DB-A467-4FCC-9398-42EB3612C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886" y="1989527"/>
            <a:ext cx="10515600" cy="436682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</a:p>
          <a:p>
            <a:pPr>
              <a:spcAft>
                <a:spcPts val="800"/>
              </a:spcAft>
              <a:defRPr sz="1300"/>
            </a:pPr>
            <a:r>
              <a:t>EVAL AI is an enterprise-grade autonomous recruitment and talent evaluation system integrating Supervised Machine Learning and Generative AI. The platform performs multi-format resume parsing (PDF, DOCX, ZIP batch), extracts structured skill and experience vectors, and utilizes a trained Random Forest Classifier (120 estimators, max depth=9) to compute deterministic candidate-to-job suitability classifications and probability scores.</a:t>
            </a:r>
          </a:p>
          <a:p>
            <a:pPr>
              <a:defRPr sz="1300"/>
            </a:pPr>
            <a:r>
              <a:t>Suitable candidates are routed to an adaptive 4-round interview simulation (Quantitative Aptitude, Domain Technical MCQs, Architecture Scenarios, and Spoken Voice Assessment) powered by Groq LLMs with real-time MediaPipe biometric proctoring, automated scoring, and comprehensive PDF dossier generation.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57C7D12-5705-B2D2-AB6A-D6A4AA9C9CF0}"/>
              </a:ext>
            </a:extLst>
          </p:cNvPr>
          <p:cNvSpPr txBox="1">
            <a:spLocks/>
          </p:cNvSpPr>
          <p:nvPr/>
        </p:nvSpPr>
        <p:spPr>
          <a:xfrm>
            <a:off x="697412" y="185559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300"/>
            </a:pPr>
            <a:r>
              <a:t>EVAL AI is an enterprise-grade autonomous recruitment and talent evaluation system integrating Supervised Machine Learning and Generative AI. The platform performs multi-format resume parsing (PDF, DOCX, ZIP batch), extracts structured skill and experience vectors, and utilizes a trained Random Forest Classifier (120 estimators, max depth=9) to compute deterministic candidate-to-job suitability classifications and probability scores.</a:t>
            </a:r>
          </a:p>
          <a:p>
            <a:pPr>
              <a:defRPr sz="1300"/>
            </a:pPr>
            <a:r>
              <a:t>Suitable candidates are routed to an adaptive 4-round interview simulation (Quantitative Aptitude, Domain Technical MCQs, Architecture Scenarios, and Spoken Voice Assessment) powered by Groq LLMs with real-time MediaPipe biometric proctoring, automated scoring, and comprehensive PDF dossier generation.</a:t>
            </a:r>
          </a:p>
        </p:txBody>
      </p:sp>
    </p:spTree>
    <p:extLst>
      <p:ext uri="{BB962C8B-B14F-4D97-AF65-F5344CB8AC3E}">
        <p14:creationId xmlns:p14="http://schemas.microsoft.com/office/powerpoint/2010/main" val="3417341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E22A1-4CE8-60CD-BC09-2DA726A8D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03D51-A893-ECC4-D324-AA7D91A57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200"/>
            </a:pPr>
            <a:r>
              <a:t>In contemporary talent acquisition, screening high-volume applicant pipelines manually or with static keyword-based ATS filters results in significant false positives, high operational latency, and lack of objective skill verification. Furthermore, relying purely on GenAI for scoring introduces hallucinations and non-deterministic decision boundaries.</a:t>
            </a:r>
          </a:p>
          <a:p>
            <a:pPr>
              <a:spcAft>
                <a:spcPts val="400"/>
              </a:spcAft>
              <a:defRPr b="1" sz="1200"/>
            </a:pPr>
            <a:r>
              <a:t>EVAL AI solves this through a dual-engine architecture:</a:t>
            </a:r>
          </a:p>
          <a:p>
            <a:pPr>
              <a:spcAft>
                <a:spcPts val="300"/>
              </a:spcAft>
              <a:defRPr sz="1150"/>
            </a:pPr>
            <a:r>
              <a:t>- Supervised ML Classifier: Evaluates an 11-dimensional numerical feature vector (skill match ratio, project density, experience, certifications) for transparent suitability prediction.</a:t>
            </a:r>
          </a:p>
          <a:p>
            <a:pPr>
              <a:defRPr sz="1150"/>
            </a:pPr>
            <a:r>
              <a:t>- GenAI Interview Agent: Conducts dynamic multi-round technical and behavioral assessments calibrated to candidate competency profiles and identified skill gaps.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9EEFC-915C-76F7-68D7-CE7D8D95E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CCC56-EBF5-FD33-150D-62BCF2A61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734AC-FDC5-8910-4361-FF5F0764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768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05DE6-D5EE-8517-DBE7-A645069F0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7421F-810F-A084-7F64-84E606615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579BD-124C-C2DC-8057-CABF5DE42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E26FD69-1F73-D7EC-5E88-163CBA826B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2855" y="1585968"/>
            <a:ext cx="6873785" cy="391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</a:p>
          <a:p>
            <a:pPr>
              <a:spcAft>
                <a:spcPts val="400"/>
              </a:spcAft>
              <a:defRPr b="1" sz="1200"/>
            </a:pPr>
            <a:r>
              <a:t>The proposed system follows a modular, reactive multi-tier architecture:</a:t>
            </a:r>
          </a:p>
          <a:p>
            <a:pPr>
              <a:spcAft>
                <a:spcPts val="300"/>
              </a:spcAft>
              <a:defRPr sz="1100"/>
            </a:pPr>
            <a:r>
              <a:t>1. Document Ingestion Tier: High-throughput batch ZIP/PDF extraction with OCR fallback and structured JSON tokenization.</a:t>
            </a:r>
          </a:p>
          <a:p>
            <a:pPr>
              <a:spcAft>
                <a:spcPts val="300"/>
              </a:spcAft>
              <a:defRPr sz="1100"/>
            </a:pPr>
            <a:r>
              <a:t>2. Supervised ML Tier (FastAPI): 11-feature mathematical extraction pipeline invoking a trained Random Forest model (89.75% test accuracy) for deterministic suitability probability.</a:t>
            </a:r>
          </a:p>
          <a:p>
            <a:pPr>
              <a:spcAft>
                <a:spcPts val="300"/>
              </a:spcAft>
              <a:defRPr sz="1100"/>
            </a:pPr>
            <a:r>
              <a:t>3. GenAI Assessment Engine: 4-round dynamic interview engine (Quantitative Aptitude, Domain MCQs, Architecture Scenarios, and Web Speech API Voice Evaluation).</a:t>
            </a:r>
          </a:p>
          <a:p>
            <a:pPr>
              <a:spcAft>
                <a:spcPts val="300"/>
              </a:spcAft>
              <a:defRPr sz="1100"/>
            </a:pPr>
            <a:r>
              <a:t>4. Anti-Malpractice Proctoring: MediaPipe facial biometric tracking, yaw/pitch pose estimation, multi-face alerts, and tab-switch detection.</a:t>
            </a:r>
          </a:p>
          <a:p>
            <a:pPr>
              <a:spcAft>
                <a:spcPts val="300"/>
              </a:spcAft>
              <a:defRPr sz="1100"/>
            </a:pPr>
            <a:r>
              <a:t>5. Enterprise Core (Spring Boot + React): Java 21 JPA persistence, candidate ranking, and instant PDF dossier synthesis.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51DD6E-6950-C1A8-2F05-2927B99B2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0" y="1834424"/>
            <a:ext cx="4800600" cy="318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430021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7035A-76B0-D720-D281-7A78E2BDB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C9C83-5D16-AB15-2D54-D9F44D7CE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0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</a:p>
          <a:p>
            <a:pPr>
              <a:spcAft>
                <a:spcPts val="500"/>
              </a:spcAft>
              <a:defRPr sz="1150"/>
            </a:pPr>
            <a:r>
              <a:t>1. Resume Feature Extraction &amp; NLP: Traditional TF-IDF keyword matching fails to capture semantic synonyms and contextual depth. Modern entity extraction combined with structured taxonomies drastically improves feature vector representations.</a:t>
            </a:r>
          </a:p>
          <a:p>
            <a:pPr>
              <a:spcAft>
                <a:spcPts val="500"/>
              </a:spcAft>
              <a:defRPr sz="1150"/>
            </a:pPr>
            <a:r>
              <a:t>2. Ensemble Machine Learning in Hiring: Supervised ensemble algorithms (such as Random Forest Classifiers) provide non-linear decision boundaries, robust handling of multi-modal features, and Mean Decrease in Impurity (MDI) feature importance rankings without black-box opacity.</a:t>
            </a:r>
          </a:p>
          <a:p>
            <a:pPr>
              <a:spcAft>
                <a:spcPts val="500"/>
              </a:spcAft>
              <a:defRPr sz="1150"/>
            </a:pPr>
            <a:r>
              <a:t>3. Adaptive Conversational AI in Interviewing: Large Language Models (LLMs) enable contextual, multi-turn technical dialogues and automated code/architecture critique, surpassing static questionnaire banks.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F846C-B5B4-4632-982D-7CEB9467F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5AB82-64DB-D46A-5DE0-6D8600E66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13035-1A49-F207-5896-4378E2CDF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0916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4FB56-61A7-0757-DAF2-5D5A6DA9C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190" y="365125"/>
            <a:ext cx="1097661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C02EA-0991-7732-C176-51F5F2A6B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01.04.2026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EC3E9-24B6-2F25-3E5D-DC8FF7B99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54C87-0C71-6425-3DE8-24B7912C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A9B793-2F5B-5861-1232-18576821C5B9}"/>
              </a:ext>
            </a:extLst>
          </p:cNvPr>
          <p:cNvSpPr txBox="1"/>
          <p:nvPr/>
        </p:nvSpPr>
        <p:spPr>
          <a:xfrm>
            <a:off x="1558290" y="1862138"/>
            <a:ext cx="4960620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</a:p>
          <a:p>
            <a:pPr>
              <a:spcAft>
                <a:spcPts val="500"/>
              </a:spcAft>
              <a:defRPr sz="1200"/>
            </a:pPr>
            <a:r>
              <a:t>• FRONTEND: React.js (Vite), Royal Dark Glassmorphism UI, Lucide Icons, Canvas Radar Charts.</a:t>
            </a:r>
          </a:p>
          <a:p>
            <a:pPr>
              <a:spcAft>
                <a:spcPts val="500"/>
              </a:spcAft>
              <a:defRPr sz="1200"/>
            </a:pPr>
            <a:r>
              <a:t>• BACKEND: Spring Boot 3 (Java 21), Spring Data JPA, Oracle / H2 Database, Apache PDFBox, Apache POI.</a:t>
            </a:r>
          </a:p>
          <a:p>
            <a:pPr>
              <a:spcAft>
                <a:spcPts val="500"/>
              </a:spcAft>
              <a:defRPr sz="1200"/>
            </a:pPr>
            <a:r>
              <a:t>• MACHINE LEARNING: Python 3.11, scikit-learn (RandomForestClassifier), Pandas, NumPy, Joblib, FastAPI, Uvicorn.</a:t>
            </a:r>
          </a:p>
          <a:p>
            <a:pPr>
              <a:spcAft>
                <a:spcPts val="500"/>
              </a:spcAft>
              <a:defRPr sz="1200"/>
            </a:pPr>
            <a:r>
              <a:t>• GENAI &amp; NLP: Groq Cloud API (Llama 3.3, Qwen 2.5), Web Speech API (Voice-to-Text).</a:t>
            </a:r>
          </a:p>
          <a:p>
            <a:pPr>
              <a:spcAft>
                <a:spcPts val="500"/>
              </a:spcAft>
              <a:defRPr sz="1200"/>
            </a:pPr>
            <a:r>
              <a:t>• AI PROCTORING: MediaPipe Face Mesh, Live WebCam Biometrics &amp; Tab Tracking.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5E4F2E-B119-29C6-3C45-DF70F108C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8" t="5987" r="12855" b="20390"/>
          <a:stretch>
            <a:fillRect/>
          </a:stretch>
        </p:blipFill>
        <p:spPr>
          <a:xfrm>
            <a:off x="6000750" y="1360811"/>
            <a:ext cx="5968365" cy="463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316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4FB56-61A7-0757-DAF2-5D5A6DA9C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AND IMPLEMENTATION ARCHITECTURE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C02EA-0991-7732-C176-51F5F2A6B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EC3E9-24B6-2F25-3E5D-DC8FF7B99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54C87-0C71-6425-3DE8-24B7912C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7AFA00-AB1D-7267-6413-351E5260D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96" y="1812397"/>
            <a:ext cx="5428504" cy="33882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EC23DC-8ED0-4C3F-9C71-4E3711980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1" y="1812397"/>
            <a:ext cx="5260864" cy="33882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64592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200">
                <a:solidFill>
                  <a:srgbClr val="D4AF37"/>
                </a:solidFill>
              </a:defRPr>
            </a:pPr>
            <a:r>
              <a:t>Phase 1: Resume Parsing &amp; Feature Extraction</a:t>
            </a:r>
          </a:p>
          <a:p>
            <a:pPr>
              <a:defRPr sz="1050"/>
            </a:pPr>
            <a:r>
              <a:t>  - Multi-format PDF/DOCX parsed into structured JSON profile (skills, projects, experience).</a:t>
            </a:r>
          </a:p>
          <a:p>
            <a:pPr>
              <a:defRPr sz="1050"/>
            </a:pPr>
            <a:r>
              <a:t>  - Extracted 11-dimensional numerical feature vector.</a:t>
            </a:r>
          </a:p>
          <a:p>
            <a:pPr>
              <a:defRPr sz="1050"/>
            </a:pPr>
          </a:p>
          <a:p>
            <a:pPr>
              <a:defRPr b="1" sz="1200">
                <a:solidFill>
                  <a:srgbClr val="D4AF37"/>
                </a:solidFill>
              </a:defRPr>
            </a:pPr>
            <a:r>
              <a:t>Phase 2: Supervised ML Suitability Classification</a:t>
            </a:r>
          </a:p>
          <a:p>
            <a:pPr>
              <a:defRPr sz="1050"/>
            </a:pPr>
            <a:r>
              <a:t>  - RandomForestClassifier (n_estimators=120, max_depth=9, random_state=42).</a:t>
            </a:r>
          </a:p>
          <a:p>
            <a:pPr>
              <a:defRPr sz="1050"/>
            </a:pPr>
            <a:r>
              <a:t>  - Returns binary classification (Suitable / Not Suitable) and probability score.</a:t>
            </a:r>
          </a:p>
          <a:p>
            <a:pPr>
              <a:defRPr sz="1050"/>
            </a:pPr>
            <a:r>
              <a:t>  - Computes MDI feature importance rankings and identifies missing skill gaps.</a:t>
            </a:r>
          </a:p>
          <a:p>
            <a:pPr>
              <a:defRPr sz="1050"/>
            </a:pPr>
          </a:p>
          <a:p>
            <a:pPr>
              <a:defRPr b="1" sz="1200">
                <a:solidFill>
                  <a:srgbClr val="D4AF37"/>
                </a:solidFill>
              </a:defRPr>
            </a:pPr>
            <a:r>
              <a:t>Phase 3: 4-Round Adaptive AI Interview Simulation</a:t>
            </a:r>
          </a:p>
          <a:p>
            <a:pPr>
              <a:defRPr sz="1050"/>
            </a:pPr>
            <a:r>
              <a:t>  - Round 1: Quantitative Aptitude &amp; Logical Reasoning.</a:t>
            </a:r>
          </a:p>
          <a:p>
            <a:pPr>
              <a:defRPr sz="1050"/>
            </a:pPr>
            <a:r>
              <a:t>  - Round 2: Domain Technical MCQs (Contextualized by ML suitability output).</a:t>
            </a:r>
          </a:p>
          <a:p>
            <a:pPr>
              <a:defRPr sz="1050"/>
            </a:pPr>
            <a:r>
              <a:t>  - Round 3: Practical Architecture &amp; Scenario Design.</a:t>
            </a:r>
          </a:p>
          <a:p>
            <a:pPr>
              <a:defRPr sz="1050"/>
            </a:pPr>
            <a:r>
              <a:t>  - Round 4: Voice Speech &amp; Linguistic Competency Evaluation.</a:t>
            </a:r>
          </a:p>
          <a:p>
            <a:pPr>
              <a:defRPr sz="1050"/>
            </a:pPr>
          </a:p>
          <a:p>
            <a:pPr>
              <a:defRPr b="1" sz="1200">
                <a:solidFill>
                  <a:srgbClr val="D4AF37"/>
                </a:solidFill>
              </a:defRPr>
            </a:pPr>
            <a:r>
              <a:t>Phase 4: Multi-Tier Assessment Dossier &amp; Ranking</a:t>
            </a:r>
          </a:p>
          <a:p>
            <a:pPr>
              <a:defRPr sz="1050"/>
            </a:pPr>
            <a:r>
              <a:t>  - Real-time biometric proctoring tracking (MediaPipe Face Mesh).</a:t>
            </a:r>
          </a:p>
          <a:p>
            <a:pPr>
              <a:defRPr sz="1050"/>
            </a:pPr>
            <a:r>
              <a:t>  - Instant candidate dossier generation &amp; PDF report synthesis.</a:t>
            </a:r>
          </a:p>
        </p:txBody>
      </p:sp>
    </p:spTree>
    <p:extLst>
      <p:ext uri="{BB962C8B-B14F-4D97-AF65-F5344CB8AC3E}">
        <p14:creationId xmlns:p14="http://schemas.microsoft.com/office/powerpoint/2010/main" val="3807908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0CE1A-7374-CD03-302B-FE4ED9CEB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2067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CD0B4-12A1-252A-CC87-0710C8FEE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9800" y="307748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14EC1-3FBE-88D3-9DFC-5DDEF9A4D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DC6C-D557-83EB-BD89-0188DCA38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47E80-263F-79A2-C231-7C493A225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6BBBB59-01EF-7D14-0943-7F86FBF96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471788"/>
            <a:ext cx="8066314" cy="4322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</a:p>
          <a:p>
            <a:pPr>
              <a:spcAft>
                <a:spcPts val="500"/>
              </a:spcAft>
              <a:defRPr sz="1250"/>
            </a:pPr>
            <a:r>
              <a:t>• Automated Campus Recruitment &amp; Bulk ZIP Batch Processing</a:t>
            </a:r>
          </a:p>
          <a:p>
            <a:pPr>
              <a:spcAft>
                <a:spcPts val="500"/>
              </a:spcAft>
              <a:defRPr sz="1250"/>
            </a:pPr>
            <a:r>
              <a:t>• Objective Role-Specific Candidate Suitability Shortlisting</a:t>
            </a:r>
          </a:p>
          <a:p>
            <a:pPr>
              <a:spcAft>
                <a:spcPts val="500"/>
              </a:spcAft>
              <a:defRPr sz="1250"/>
            </a:pPr>
            <a:r>
              <a:t>• Supervised ML Skill Gap Analysis &amp; Technical Profiling</a:t>
            </a:r>
          </a:p>
          <a:p>
            <a:pPr>
              <a:spcAft>
                <a:spcPts val="500"/>
              </a:spcAft>
              <a:defRPr sz="1250"/>
            </a:pPr>
            <a:r>
              <a:t>• AI-Proctored Remote Screening &amp; Integrity Verification</a:t>
            </a:r>
          </a:p>
          <a:p>
            <a:pPr>
              <a:spcAft>
                <a:spcPts val="500"/>
              </a:spcAft>
              <a:defRPr sz="1250"/>
            </a:pPr>
            <a:r>
              <a:t>• Adaptive Multi-Round Technical Interview Simulation</a:t>
            </a:r>
          </a:p>
          <a:p>
            <a:pPr>
              <a:spcAft>
                <a:spcPts val="500"/>
              </a:spcAft>
              <a:defRPr sz="1250"/>
            </a:pPr>
            <a:r>
              <a:t>• Voice Articulation &amp; Linguistic Proficiency Assessment</a:t>
            </a:r>
          </a:p>
          <a:p>
            <a:pPr>
              <a:spcAft>
                <a:spcPts val="500"/>
              </a:spcAft>
              <a:defRPr sz="1250"/>
            </a:pPr>
            <a:r>
              <a:t>• Instant Candidate PDF Dossier &amp; Executive Report Generation</a:t>
            </a:r>
          </a:p>
          <a:p>
            <a:pPr>
              <a:spcAft>
                <a:spcPts val="500"/>
              </a:spcAft>
              <a:defRPr sz="1250"/>
            </a:pPr>
            <a:r>
              <a:t>• Real-Time Recruiter Analytics &amp; Cohort Leaderboard Tracking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D9290C-5C4A-110F-5759-68A6FBE71F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990" y="1976167"/>
            <a:ext cx="4423410" cy="294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414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5C846-3A24-B018-E7B4-3C231F884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37E8-6F6F-157A-BA00-95018438F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2067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015E5-52CD-8DB8-A55C-18B0C0BB1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0" y="264314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161EB-64E8-2D57-3C04-8A8E5012D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3C47E-17CB-A3F5-4FC5-397C44562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F59D0-018C-34A9-1A69-D7BAB232D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2187AFD-ECEB-4EB1-7095-52D21B284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851" y="1792336"/>
            <a:ext cx="10213249" cy="3911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</a:p>
          <a:p>
            <a:pPr>
              <a:spcAft>
                <a:spcPts val="600"/>
              </a:spcAft>
              <a:defRPr b="1" sz="1250"/>
            </a:pPr>
            <a:r>
              <a:t>EVAL AI successfully establishes a scalable, fair, and mathematically grounded recruitment automation platform.</a:t>
            </a:r>
          </a:p>
          <a:p>
            <a:pPr>
              <a:spcAft>
                <a:spcPts val="400"/>
              </a:spcAft>
              <a:defRPr sz="1150"/>
            </a:pPr>
            <a:r>
              <a:t>• Separation of Concerns: Machine Learning handles deterministic numerical prediction and feature importances, while Generative AI powers interactive interview simulation and language critique.</a:t>
            </a:r>
          </a:p>
          <a:p>
            <a:pPr>
              <a:spcAft>
                <a:spcPts val="400"/>
              </a:spcAft>
              <a:defRPr sz="1150"/>
            </a:pPr>
            <a:r>
              <a:t>• High Evaluation Precision: The Random Forest model delivers 89.75% test accuracy, 92.61% precision, and 90.17% F1-score on realistic hiring benchmarks.</a:t>
            </a:r>
          </a:p>
          <a:p>
            <a:pPr>
              <a:spcAft>
                <a:spcPts val="400"/>
              </a:spcAft>
              <a:defRPr sz="1150"/>
            </a:pPr>
            <a:r>
              <a:t>• Integrity-First Evaluation: MediaPipe live face tracking and tab monitoring ensure fair, cheat-resilient remote assessments.</a:t>
            </a:r>
          </a:p>
          <a:p>
            <a:pPr>
              <a:spcAft>
                <a:spcPts val="400"/>
              </a:spcAft>
              <a:defRPr sz="1150"/>
            </a:pPr>
            <a:r>
              <a:t>• End-to-End Automation: Reduces technical hiring triage cycles from days to minutes while delivering rich, verifiable candidate dossiers.</a:t>
            </a:r>
          </a:p>
        </p:txBody>
      </p:sp>
    </p:spTree>
    <p:extLst>
      <p:ext uri="{BB962C8B-B14F-4D97-AF65-F5344CB8AC3E}">
        <p14:creationId xmlns:p14="http://schemas.microsoft.com/office/powerpoint/2010/main" val="1319092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E24CE9-3F98-99BC-660B-228D364DCF50}"/>
              </a:ext>
            </a:extLst>
          </p:cNvPr>
          <p:cNvSpPr txBox="1"/>
          <p:nvPr/>
        </p:nvSpPr>
        <p:spPr>
          <a:xfrm>
            <a:off x="2661249" y="2705725"/>
            <a:ext cx="68695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defRPr b="1" sz="3600"/>
            </a:pPr>
            <a:r>
              <a:t>THANK YOU</a:t>
            </a:r>
          </a:p>
          <a:p>
            <a:pPr>
              <a:spcAft>
                <a:spcPts val="600"/>
              </a:spcAft>
              <a:defRPr sz="1600"/>
            </a:pPr>
            <a:r>
              <a:t>EVAL AI: Autonomous Talent Assessment &amp; ML Prediction Platform</a:t>
            </a:r>
          </a:p>
          <a:p>
            <a:pPr>
              <a:defRPr sz="1400" i="1"/>
            </a:pPr>
            <a:r>
              <a:t>Questions &amp; Discussion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D27B67-11C9-7373-338E-744FC2741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CFBE9-9642-7BA3-31BD-C3D54361E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64120-4D13-4582-95DC-C3CB2D4D0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DC0B9-C475-4FDF-8DD2-FF30D3C761E7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655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2375</TotalTime>
  <Words>552</Words>
  <Application>Microsoft Office PowerPoint</Application>
  <PresentationFormat>Widescreen</PresentationFormat>
  <Paragraphs>67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Century Gothic</vt:lpstr>
      <vt:lpstr>Times New Roman</vt:lpstr>
      <vt:lpstr>Wingdings</vt:lpstr>
      <vt:lpstr>Office Theme</vt:lpstr>
      <vt:lpstr>Course code/Title: 23ADR304 ARTIFICIAL INTELLIGENCE</vt:lpstr>
      <vt:lpstr>AGENDA</vt:lpstr>
      <vt:lpstr>TITLE</vt:lpstr>
      <vt:lpstr>ABSTRACT</vt:lpstr>
      <vt:lpstr>INTRODUCTION</vt:lpstr>
      <vt:lpstr>SYSTEM OVERVIEW</vt:lpstr>
      <vt:lpstr>LITERATURE REVIEW</vt:lpstr>
      <vt:lpstr>TOOLS USED:</vt:lpstr>
      <vt:lpstr>DESIGN AND IMPLEMENTATION</vt:lpstr>
      <vt:lpstr>USE CASES: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Manoj</dc:creator>
  <cp:lastModifiedBy>Jai Surya</cp:lastModifiedBy>
  <cp:revision>92</cp:revision>
  <dcterms:created xsi:type="dcterms:W3CDTF">2023-05-18T12:21:03Z</dcterms:created>
  <dcterms:modified xsi:type="dcterms:W3CDTF">2026-03-31T16:53:29Z</dcterms:modified>
</cp:coreProperties>
</file>